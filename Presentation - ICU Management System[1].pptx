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</p:sldIdLst>
  <p:sldSz cx="18288000" cy="10287000"/>
  <p:notesSz cx="6858000" cy="9144000"/>
  <p:embeddedFontLst>
    <p:embeddedFont>
      <p:font typeface="Raleway" pitchFamily="2" charset="0"/>
      <p:regular r:id="rId11"/>
      <p:bold r:id="rId12"/>
    </p:embeddedFont>
    <p:embeddedFont>
      <p:font typeface="Raleway Bold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47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0" y="1752600"/>
            <a:ext cx="8324850" cy="410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75"/>
              </a:lnSpc>
            </a:pPr>
            <a:r>
              <a:rPr lang="en-US" sz="10575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ICU Management System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7191375" cy="8953500"/>
            <a:chOff x="0" y="0"/>
            <a:chExt cx="1036915" cy="1290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6915" cy="1290994"/>
            </a:xfrm>
            <a:custGeom>
              <a:avLst/>
              <a:gdLst/>
              <a:ahLst/>
              <a:cxnLst/>
              <a:rect l="l" t="t" r="r" b="b"/>
              <a:pathLst>
                <a:path w="1036915" h="1290994">
                  <a:moveTo>
                    <a:pt x="0" y="0"/>
                  </a:moveTo>
                  <a:lnTo>
                    <a:pt x="1036915" y="0"/>
                  </a:lnTo>
                  <a:lnTo>
                    <a:pt x="1036915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785" y="666750"/>
            <a:ext cx="11203365" cy="2001470"/>
            <a:chOff x="0" y="0"/>
            <a:chExt cx="14937820" cy="2668626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4937820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Presentation Agenda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92351"/>
              <a:ext cx="1493782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An Overview of Key Topics Covered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71512" y="6886575"/>
            <a:ext cx="2590269" cy="1166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4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Introduction to the DBMS in Healthcare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94990" y="6886575"/>
            <a:ext cx="2617503" cy="38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ER Diagram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6886575"/>
            <a:ext cx="2571750" cy="38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Advantages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11225" y="6886575"/>
            <a:ext cx="2571750" cy="772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Security Goals and Examples</a:t>
            </a:r>
          </a:p>
        </p:txBody>
      </p:sp>
      <p:sp>
        <p:nvSpPr>
          <p:cNvPr id="9" name="AutoShape 9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662404" y="5469939"/>
            <a:ext cx="1137821" cy="568911"/>
          </a:xfrm>
          <a:custGeom>
            <a:avLst/>
            <a:gdLst/>
            <a:ahLst/>
            <a:cxnLst/>
            <a:rect l="l" t="t" r="r" b="b"/>
            <a:pathLst>
              <a:path w="1137821" h="568911">
                <a:moveTo>
                  <a:pt x="0" y="0"/>
                </a:moveTo>
                <a:lnTo>
                  <a:pt x="1137821" y="0"/>
                </a:lnTo>
                <a:lnTo>
                  <a:pt x="1137821" y="568911"/>
                </a:lnTo>
                <a:lnTo>
                  <a:pt x="0" y="5689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-10800000">
            <a:off x="4994990" y="5478820"/>
            <a:ext cx="1120060" cy="560030"/>
          </a:xfrm>
          <a:custGeom>
            <a:avLst/>
            <a:gdLst/>
            <a:ahLst/>
            <a:cxnLst/>
            <a:rect l="l" t="t" r="r" b="b"/>
            <a:pathLst>
              <a:path w="1120060" h="56003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rot="-10800000">
            <a:off x="13611225" y="5478820"/>
            <a:ext cx="1120060" cy="560030"/>
          </a:xfrm>
          <a:custGeom>
            <a:avLst/>
            <a:gdLst/>
            <a:ahLst/>
            <a:cxnLst/>
            <a:rect l="l" t="t" r="r" b="b"/>
            <a:pathLst>
              <a:path w="1120060" h="56003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9296400" y="5478820"/>
            <a:ext cx="1120060" cy="560030"/>
          </a:xfrm>
          <a:custGeom>
            <a:avLst/>
            <a:gdLst/>
            <a:ahLst/>
            <a:cxnLst/>
            <a:rect l="l" t="t" r="r" b="b"/>
            <a:pathLst>
              <a:path w="1120060" h="56003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539779" y="742950"/>
            <a:ext cx="13208441" cy="129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00"/>
              </a:lnSpc>
            </a:pPr>
            <a:r>
              <a:rPr lang="en-US" sz="9000" b="1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/>
                <a:ea typeface="Raleway"/>
                <a:cs typeface="Raleway"/>
                <a:sym typeface="Raleway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31770" y="3079749"/>
            <a:ext cx="15624461" cy="5584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28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The ICU Management System is a database-based project designed to improve patient monitoring and hospital efficiency. It automates the process of recording and managing patient vitals, assigned staff, and alerts — reducing human errors and delays.</a:t>
            </a:r>
          </a:p>
          <a:p>
            <a:pPr algn="ctr">
              <a:lnSpc>
                <a:spcPts val="4899"/>
              </a:lnSpc>
            </a:pPr>
            <a:endParaRPr lang="en-US" sz="2800" dirty="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ctr">
              <a:lnSpc>
                <a:spcPts val="4899"/>
              </a:lnSpc>
            </a:pPr>
            <a:r>
              <a:rPr lang="en-US" sz="28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By using a structured DBMS, the system ensures data accuracy, integrity, and secure access for Admins, Staff, and Family members. It provides real-time insights, role-based access control, and transparent data management helping doctors make faster decisions and ensuring better patient care in critical situations.</a:t>
            </a:r>
          </a:p>
          <a:p>
            <a:pPr marL="0" lvl="0" indent="0" algn="ctr">
              <a:lnSpc>
                <a:spcPts val="4899"/>
              </a:lnSpc>
            </a:pPr>
            <a:endParaRPr lang="en-US" sz="2800" dirty="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8305800" y="342884"/>
            <a:ext cx="9331943" cy="8915416"/>
            <a:chOff x="0" y="0"/>
            <a:chExt cx="792902" cy="1154428"/>
          </a:xfrm>
          <a:blipFill>
            <a:blip r:embed="rId2"/>
            <a:stretch>
              <a:fillRect/>
            </a:stretch>
          </a:blip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792902" cy="1154428"/>
            </a:xfrm>
            <a:custGeom>
              <a:avLst/>
              <a:gdLst/>
              <a:ahLst/>
              <a:cxnLst/>
              <a:rect l="l" t="t" r="r" b="b"/>
              <a:pathLst>
                <a:path w="792902" h="1154428">
                  <a:moveTo>
                    <a:pt x="0" y="0"/>
                  </a:moveTo>
                  <a:lnTo>
                    <a:pt x="792902" y="0"/>
                  </a:lnTo>
                  <a:lnTo>
                    <a:pt x="792902" y="1154428"/>
                  </a:lnTo>
                  <a:lnTo>
                    <a:pt x="0" y="1154428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533884"/>
            <a:ext cx="8324850" cy="129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9000" b="1" u="sng" dirty="0">
                <a:solidFill>
                  <a:srgbClr val="1A1A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Bold"/>
                <a:ea typeface="Raleway Bold"/>
                <a:cs typeface="Raleway Bold"/>
                <a:sym typeface="Raleway Bold"/>
              </a:rPr>
              <a:t>ER Diagram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1512" y="695325"/>
            <a:ext cx="16949738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0"/>
              </a:lnSpc>
            </a:pPr>
            <a:r>
              <a:rPr lang="en-US" sz="5000" u="none" strike="noStrik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User Roles in ICU Management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72950" y="7381283"/>
            <a:ext cx="5448293" cy="1599213"/>
            <a:chOff x="0" y="0"/>
            <a:chExt cx="7264391" cy="2132284"/>
          </a:xfrm>
        </p:grpSpPr>
        <p:sp>
          <p:nvSpPr>
            <p:cNvPr id="4" name="TextBox 4"/>
            <p:cNvSpPr txBox="1"/>
            <p:nvPr/>
          </p:nvSpPr>
          <p:spPr>
            <a:xfrm>
              <a:off x="0" y="19050"/>
              <a:ext cx="7264391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1A1A1A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Administrators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17766"/>
              <a:ext cx="7264391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Manage resources and ensure smooth operations.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7381283"/>
            <a:ext cx="5448300" cy="1599245"/>
            <a:chOff x="0" y="0"/>
            <a:chExt cx="7264400" cy="2132326"/>
          </a:xfrm>
        </p:grpSpPr>
        <p:sp>
          <p:nvSpPr>
            <p:cNvPr id="7" name="TextBox 7"/>
            <p:cNvSpPr txBox="1"/>
            <p:nvPr/>
          </p:nvSpPr>
          <p:spPr>
            <a:xfrm>
              <a:off x="0" y="19050"/>
              <a:ext cx="72644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1A1A1A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Nurses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17766"/>
              <a:ext cx="7264400" cy="101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Receive alerts and access vital information.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7359963"/>
            <a:ext cx="5448300" cy="1620549"/>
            <a:chOff x="0" y="0"/>
            <a:chExt cx="7264400" cy="216073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9050"/>
              <a:ext cx="7264400" cy="5905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>
                  <a:solidFill>
                    <a:srgbClr val="1A1A1A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Family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46172"/>
              <a:ext cx="7264400" cy="101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Can access the real-time vitals of the patient.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6750" y="2457450"/>
            <a:ext cx="5448300" cy="4476750"/>
            <a:chOff x="0" y="0"/>
            <a:chExt cx="827486" cy="6799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27486" cy="679927"/>
            </a:xfrm>
            <a:custGeom>
              <a:avLst/>
              <a:gdLst/>
              <a:ahLst/>
              <a:cxnLst/>
              <a:rect l="l" t="t" r="r" b="b"/>
              <a:pathLst>
                <a:path w="827486" h="679927">
                  <a:moveTo>
                    <a:pt x="0" y="0"/>
                  </a:moveTo>
                  <a:lnTo>
                    <a:pt x="827486" y="0"/>
                  </a:lnTo>
                  <a:lnTo>
                    <a:pt x="827486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2"/>
              <a:stretch>
                <a:fillRect t="-10851" b="-10851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72950" y="2457450"/>
            <a:ext cx="5443970" cy="4476750"/>
            <a:chOff x="0" y="0"/>
            <a:chExt cx="826828" cy="67992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6828" cy="679927"/>
            </a:xfrm>
            <a:custGeom>
              <a:avLst/>
              <a:gdLst/>
              <a:ahLst/>
              <a:cxnLst/>
              <a:rect l="l" t="t" r="r" b="b"/>
              <a:pathLst>
                <a:path w="826828" h="679927">
                  <a:moveTo>
                    <a:pt x="0" y="0"/>
                  </a:moveTo>
                  <a:lnTo>
                    <a:pt x="826828" y="0"/>
                  </a:lnTo>
                  <a:lnTo>
                    <a:pt x="826828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3"/>
              <a:stretch>
                <a:fillRect l="-372" r="-372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19850" y="2457450"/>
            <a:ext cx="5448300" cy="4476750"/>
            <a:chOff x="0" y="0"/>
            <a:chExt cx="827486" cy="67992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7486" cy="679927"/>
            </a:xfrm>
            <a:custGeom>
              <a:avLst/>
              <a:gdLst/>
              <a:ahLst/>
              <a:cxnLst/>
              <a:rect l="l" t="t" r="r" b="b"/>
              <a:pathLst>
                <a:path w="827486" h="679927">
                  <a:moveTo>
                    <a:pt x="0" y="0"/>
                  </a:moveTo>
                  <a:lnTo>
                    <a:pt x="827486" y="0"/>
                  </a:lnTo>
                  <a:lnTo>
                    <a:pt x="827486" y="679927"/>
                  </a:lnTo>
                  <a:lnTo>
                    <a:pt x="0" y="679927"/>
                  </a:lnTo>
                  <a:close/>
                </a:path>
              </a:pathLst>
            </a:custGeom>
            <a:blipFill>
              <a:blip r:embed="rId4"/>
              <a:stretch>
                <a:fillRect l="-332" r="-332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AutoShape 18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3319490" y="420074"/>
            <a:ext cx="11649021" cy="2666311"/>
            <a:chOff x="0" y="0"/>
            <a:chExt cx="15532028" cy="3555082"/>
          </a:xfrm>
        </p:grpSpPr>
        <p:sp>
          <p:nvSpPr>
            <p:cNvPr id="4" name="TextBox 4"/>
            <p:cNvSpPr txBox="1"/>
            <p:nvPr/>
          </p:nvSpPr>
          <p:spPr>
            <a:xfrm>
              <a:off x="0" y="66675"/>
              <a:ext cx="15532028" cy="1543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sz="7962" b="1" dirty="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Advantages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132614"/>
              <a:ext cx="15532028" cy="422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62200" y="2422937"/>
            <a:ext cx="15624461" cy="6392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799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24/7 Monitoring : 	</a:t>
            </a:r>
            <a:r>
              <a:rPr lang="en-US" sz="2799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Patient </a:t>
            </a:r>
            <a:r>
              <a:rPr lang="en-US" sz="2799" dirty="0">
                <a:solidFill>
                  <a:srgbClr val="1A1A1A"/>
                </a:solidFill>
                <a:highlight>
                  <a:srgbClr val="FFFF00"/>
                </a:highlight>
                <a:latin typeface="Raleway"/>
                <a:ea typeface="Raleway"/>
                <a:cs typeface="Raleway"/>
                <a:sym typeface="Raleway"/>
              </a:rPr>
              <a:t>vitals are tracked continuously </a:t>
            </a:r>
            <a:r>
              <a:rPr lang="en-US" sz="2799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without relying on staff.</a:t>
            </a:r>
          </a:p>
          <a:p>
            <a:pPr algn="just">
              <a:lnSpc>
                <a:spcPct val="150000"/>
              </a:lnSpc>
            </a:pPr>
            <a:r>
              <a:rPr lang="en-US" sz="2799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Early Alerts: 		</a:t>
            </a:r>
            <a:r>
              <a:rPr lang="en-US" sz="2799" dirty="0">
                <a:solidFill>
                  <a:srgbClr val="1A1A1A"/>
                </a:solidFill>
                <a:highlight>
                  <a:srgbClr val="FFFF00"/>
                </a:highlight>
                <a:latin typeface="Raleway"/>
                <a:ea typeface="Raleway"/>
                <a:cs typeface="Raleway"/>
                <a:sym typeface="Raleway"/>
              </a:rPr>
              <a:t>Immediate notifications when vitals cross safe limits</a:t>
            </a:r>
            <a:r>
              <a:rPr lang="en-US" sz="2799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799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Fewer Errors: 		</a:t>
            </a:r>
            <a:r>
              <a:rPr lang="en-US" sz="2799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Automated logs </a:t>
            </a:r>
            <a:r>
              <a:rPr lang="en-US" sz="2799" dirty="0">
                <a:solidFill>
                  <a:srgbClr val="1A1A1A"/>
                </a:solidFill>
                <a:highlight>
                  <a:srgbClr val="FFFF00"/>
                </a:highlight>
                <a:latin typeface="Raleway"/>
                <a:ea typeface="Raleway"/>
                <a:cs typeface="Raleway"/>
                <a:sym typeface="Raleway"/>
              </a:rPr>
              <a:t>reduce mistakes from manual recording.</a:t>
            </a:r>
          </a:p>
          <a:p>
            <a:pPr algn="just">
              <a:lnSpc>
                <a:spcPct val="150000"/>
              </a:lnSpc>
            </a:pPr>
            <a:r>
              <a:rPr lang="en-US" sz="2799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Family Access: 		</a:t>
            </a:r>
            <a:r>
              <a:rPr lang="en-US" sz="2799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Authorized </a:t>
            </a:r>
            <a:r>
              <a:rPr lang="en-US" sz="2799" dirty="0">
                <a:solidFill>
                  <a:srgbClr val="1A1A1A"/>
                </a:solidFill>
                <a:highlight>
                  <a:srgbClr val="FFFF00"/>
                </a:highlight>
                <a:latin typeface="Raleway"/>
                <a:ea typeface="Raleway"/>
                <a:cs typeface="Raleway"/>
                <a:sym typeface="Raleway"/>
              </a:rPr>
              <a:t>relatives can view real-time vitals</a:t>
            </a:r>
            <a:r>
              <a:rPr lang="en-US" sz="2799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securely.</a:t>
            </a:r>
          </a:p>
          <a:p>
            <a:pPr algn="just">
              <a:lnSpc>
                <a:spcPct val="150000"/>
              </a:lnSpc>
            </a:pPr>
            <a:r>
              <a:rPr lang="en-US" sz="2799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Historical Data: 		</a:t>
            </a:r>
            <a:r>
              <a:rPr lang="en-US" sz="2799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All readings are saved for trend analysis and research.</a:t>
            </a:r>
          </a:p>
          <a:p>
            <a:pPr algn="just">
              <a:lnSpc>
                <a:spcPct val="150000"/>
              </a:lnSpc>
            </a:pPr>
            <a:r>
              <a:rPr lang="en-US" sz="2799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Decision Support: 	</a:t>
            </a:r>
            <a:r>
              <a:rPr lang="en-US" sz="2799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Highlights patients needing urgent attention first.</a:t>
            </a:r>
          </a:p>
          <a:p>
            <a:pPr algn="just">
              <a:lnSpc>
                <a:spcPct val="150000"/>
              </a:lnSpc>
            </a:pPr>
            <a:r>
              <a:rPr lang="en-US" sz="2799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Role-Based Privacy: 	</a:t>
            </a:r>
            <a:r>
              <a:rPr lang="en-US" sz="2799" dirty="0">
                <a:solidFill>
                  <a:srgbClr val="1A1A1A"/>
                </a:solidFill>
                <a:highlight>
                  <a:srgbClr val="FFFF00"/>
                </a:highlight>
                <a:latin typeface="Raleway"/>
                <a:ea typeface="Raleway"/>
                <a:cs typeface="Raleway"/>
                <a:sym typeface="Raleway"/>
              </a:rPr>
              <a:t>Admin, staff, and family see only what they’re allowed.</a:t>
            </a:r>
          </a:p>
          <a:p>
            <a:pPr algn="just">
              <a:lnSpc>
                <a:spcPct val="150000"/>
              </a:lnSpc>
            </a:pPr>
            <a:r>
              <a:rPr lang="en-US" sz="2799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Handles High Load: 	</a:t>
            </a:r>
            <a:r>
              <a:rPr lang="en-US" sz="2799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No readings are missed even with many ICU patients.</a:t>
            </a:r>
          </a:p>
          <a:p>
            <a:pPr algn="just">
              <a:lnSpc>
                <a:spcPct val="150000"/>
              </a:lnSpc>
            </a:pPr>
            <a:r>
              <a:rPr lang="en-US" sz="2799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Easy Integration: 	</a:t>
            </a:r>
            <a:r>
              <a:rPr lang="en-US" sz="2799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Works with hospital systems, devices, or IoT wearables.</a:t>
            </a:r>
          </a:p>
          <a:p>
            <a:pPr algn="just">
              <a:lnSpc>
                <a:spcPct val="150000"/>
              </a:lnSpc>
            </a:pPr>
            <a:r>
              <a:rPr lang="en-US" sz="2799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Peace of Mind: 		</a:t>
            </a:r>
            <a:r>
              <a:rPr lang="en-US" sz="2799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Confirms patient stability continuously for staff and family.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C4F10-A5C1-E831-4D28-3D17108F5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9F95846-AA81-DE65-EA51-376B78AF3F6B}"/>
              </a:ext>
            </a:extLst>
          </p:cNvPr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7131C89-0B3D-F222-2AA2-E2EA7A69ABCB}"/>
              </a:ext>
            </a:extLst>
          </p:cNvPr>
          <p:cNvGrpSpPr/>
          <p:nvPr/>
        </p:nvGrpSpPr>
        <p:grpSpPr>
          <a:xfrm>
            <a:off x="3319490" y="420074"/>
            <a:ext cx="11649021" cy="2666311"/>
            <a:chOff x="0" y="0"/>
            <a:chExt cx="15532028" cy="3555082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DA66D1E-D4BB-90B1-1D6C-655E7E9AED7D}"/>
                </a:ext>
              </a:extLst>
            </p:cNvPr>
            <p:cNvSpPr txBox="1"/>
            <p:nvPr/>
          </p:nvSpPr>
          <p:spPr>
            <a:xfrm>
              <a:off x="0" y="66675"/>
              <a:ext cx="15532028" cy="1543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sz="7962" b="1" dirty="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Advantages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72A7615-246E-7CB9-CD79-DEF980BD3AD7}"/>
                </a:ext>
              </a:extLst>
            </p:cNvPr>
            <p:cNvSpPr txBox="1"/>
            <p:nvPr/>
          </p:nvSpPr>
          <p:spPr>
            <a:xfrm>
              <a:off x="0" y="3132614"/>
              <a:ext cx="15532028" cy="422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030BD828-7FE4-6D61-FAF6-6FBC76DC5E03}"/>
              </a:ext>
            </a:extLst>
          </p:cNvPr>
          <p:cNvSpPr txBox="1"/>
          <p:nvPr/>
        </p:nvSpPr>
        <p:spPr>
          <a:xfrm>
            <a:off x="2590800" y="1627988"/>
            <a:ext cx="14693965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400" b="1" dirty="0">
                <a:solidFill>
                  <a:srgbClr val="1A1A1A"/>
                </a:solidFill>
                <a:latin typeface="Raleway"/>
              </a:rPr>
              <a:t>Atomicity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latin typeface="Raleway"/>
              </a:rPr>
              <a:t>Each operation (e.g., inserting vitals or acknowledging alerts) </a:t>
            </a:r>
            <a:r>
              <a:rPr lang="en-IN" sz="2400" dirty="0">
                <a:solidFill>
                  <a:srgbClr val="1A1A1A"/>
                </a:solidFill>
                <a:highlight>
                  <a:srgbClr val="FFFF00"/>
                </a:highlight>
                <a:latin typeface="Raleway"/>
              </a:rPr>
              <a:t>happens completely or not at all.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latin typeface="Raleway"/>
              </a:rPr>
              <a:t>Triggers like check_vitals run only after a successful insert — no partial data remains.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latin typeface="Raleway"/>
              </a:rPr>
              <a:t>If any error occurs (e.g., missing PatientID), the entire transaction rolls back.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1A1A1A"/>
              </a:solidFill>
              <a:latin typeface="Raleway"/>
            </a:endParaRPr>
          </a:p>
          <a:p>
            <a:r>
              <a:rPr lang="en-IN" sz="2400" b="1" dirty="0">
                <a:solidFill>
                  <a:srgbClr val="1A1A1A"/>
                </a:solidFill>
                <a:latin typeface="Raleway"/>
              </a:rPr>
              <a:t>Consistency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highlight>
                  <a:srgbClr val="FFFF00"/>
                </a:highlight>
                <a:latin typeface="Raleway"/>
              </a:rPr>
              <a:t>Foreign keys maintain valid relationships </a:t>
            </a:r>
            <a:r>
              <a:rPr lang="en-IN" sz="2400" dirty="0">
                <a:solidFill>
                  <a:srgbClr val="1A1A1A"/>
                </a:solidFill>
                <a:latin typeface="Raleway"/>
              </a:rPr>
              <a:t>(e.g., Vitals.PatientID → Patients).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latin typeface="Raleway"/>
              </a:rPr>
              <a:t>Triggers (check_vitals, limit_vitals_perPatient) enforce logical data rules.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latin typeface="Raleway"/>
              </a:rPr>
              <a:t>Ensures vitals are within defined ranges and alerts link to valid patients.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latin typeface="Raleway"/>
              </a:rPr>
              <a:t>Constraints keep schema consistent.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latin typeface="Raleway"/>
              </a:rPr>
              <a:t>Old vitals auto-deletion maintains optimal table size and efficiency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1A1A1A"/>
              </a:solidFill>
              <a:latin typeface="Raleway"/>
            </a:endParaRPr>
          </a:p>
          <a:p>
            <a:r>
              <a:rPr lang="en-IN" sz="2400" b="1" dirty="0">
                <a:solidFill>
                  <a:srgbClr val="1A1A1A"/>
                </a:solidFill>
                <a:latin typeface="Raleway"/>
              </a:rPr>
              <a:t>Isolation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latin typeface="Raleway"/>
              </a:rPr>
              <a:t>Multiple users </a:t>
            </a:r>
            <a:r>
              <a:rPr lang="en-IN" sz="2400" dirty="0">
                <a:solidFill>
                  <a:srgbClr val="1A1A1A"/>
                </a:solidFill>
                <a:highlight>
                  <a:srgbClr val="FFFF00"/>
                </a:highlight>
                <a:latin typeface="Raleway"/>
              </a:rPr>
              <a:t>(Admin, Staff, Simulator) can access data without interference</a:t>
            </a:r>
            <a:r>
              <a:rPr lang="en-IN" sz="2400" dirty="0">
                <a:solidFill>
                  <a:srgbClr val="1A1A1A"/>
                </a:solidFill>
                <a:latin typeface="Raleway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latin typeface="Raleway"/>
              </a:rPr>
              <a:t>MySQL’s transaction isolation prevents uncommitted data from being seen by others.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latin typeface="Raleway"/>
              </a:rPr>
              <a:t>One user’s inserts or updates don’t affect another’s current view.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latin typeface="Raleway"/>
              </a:rPr>
              <a:t>Eliminates race conditions and inconsistent reads during heavy data flow.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1A1A1A"/>
              </a:solidFill>
              <a:latin typeface="Raleway"/>
            </a:endParaRPr>
          </a:p>
          <a:p>
            <a:r>
              <a:rPr lang="en-IN" sz="2400" b="1" dirty="0">
                <a:solidFill>
                  <a:srgbClr val="1A1A1A"/>
                </a:solidFill>
                <a:latin typeface="Raleway"/>
              </a:rPr>
              <a:t>Durability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A1A1A"/>
                </a:solidFill>
                <a:latin typeface="Raleway"/>
              </a:rPr>
              <a:t>Once data (vitals or alerts) is committed, it’s </a:t>
            </a:r>
            <a:r>
              <a:rPr lang="en-IN" sz="2400" dirty="0">
                <a:solidFill>
                  <a:srgbClr val="1A1A1A"/>
                </a:solidFill>
                <a:highlight>
                  <a:srgbClr val="FFFF00"/>
                </a:highlight>
                <a:latin typeface="Raleway"/>
              </a:rPr>
              <a:t>saved</a:t>
            </a:r>
            <a:r>
              <a:rPr lang="en-IN" sz="2400" dirty="0">
                <a:solidFill>
                  <a:srgbClr val="1A1A1A"/>
                </a:solidFill>
                <a:latin typeface="Raleway"/>
              </a:rPr>
              <a:t> even after crashes.</a:t>
            </a:r>
          </a:p>
        </p:txBody>
      </p:sp>
    </p:spTree>
    <p:extLst>
      <p:ext uri="{BB962C8B-B14F-4D97-AF65-F5344CB8AC3E}">
        <p14:creationId xmlns:p14="http://schemas.microsoft.com/office/powerpoint/2010/main" val="662158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31704" y="742950"/>
            <a:ext cx="16121239" cy="129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00"/>
              </a:lnSpc>
            </a:pPr>
            <a:r>
              <a:rPr lang="en-US" sz="9000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Security and Examples</a:t>
            </a:r>
          </a:p>
        </p:txBody>
      </p:sp>
      <p:sp>
        <p:nvSpPr>
          <p:cNvPr id="3" name="AutoShape 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615685" y="2171700"/>
            <a:ext cx="15440480" cy="574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Security Goal: Authentication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1A1A1A"/>
                </a:solidFill>
                <a:highlight>
                  <a:srgbClr val="FFFF00"/>
                </a:highlight>
                <a:latin typeface="Raleway"/>
                <a:ea typeface="Raleway"/>
                <a:cs typeface="Raleway"/>
                <a:sym typeface="Raleway"/>
              </a:rPr>
              <a:t> Only registered Admin, Staff, or Family can log in.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Security Goal: Authorization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Staff can see their </a:t>
            </a:r>
            <a:r>
              <a:rPr lang="en-US" sz="2800" dirty="0">
                <a:solidFill>
                  <a:srgbClr val="1A1A1A"/>
                </a:solidFill>
                <a:highlight>
                  <a:srgbClr val="FFFF00"/>
                </a:highlight>
                <a:latin typeface="Raleway"/>
                <a:ea typeface="Raleway"/>
                <a:cs typeface="Raleway"/>
                <a:sym typeface="Raleway"/>
              </a:rPr>
              <a:t>assigned patients</a:t>
            </a:r>
            <a:r>
              <a:rPr lang="en-US" sz="28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only; </a:t>
            </a:r>
            <a:r>
              <a:rPr lang="en-US" sz="2800" dirty="0">
                <a:solidFill>
                  <a:srgbClr val="1A1A1A"/>
                </a:solidFill>
                <a:highlight>
                  <a:srgbClr val="FFFF00"/>
                </a:highlight>
                <a:latin typeface="Raleway"/>
                <a:ea typeface="Raleway"/>
                <a:cs typeface="Raleway"/>
                <a:sym typeface="Raleway"/>
              </a:rPr>
              <a:t>families can see their own patient</a:t>
            </a:r>
            <a:r>
              <a:rPr lang="en-US" sz="28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; Admin sees everything.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Security Goal: Data Integrity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Prevent accidental or unauthorized modification of critical tables (like Patients or Vitals).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Security Goal: Confidentiality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Family members cannot view other patients’ vitals.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8312" y="4417714"/>
            <a:ext cx="7191375" cy="154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879"/>
              </a:lnSpc>
            </a:pPr>
            <a:r>
              <a:rPr lang="en-US" sz="10799" b="1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559</Words>
  <Application>Microsoft Office PowerPoint</Application>
  <PresentationFormat>Custom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Raleway Bold</vt:lpstr>
      <vt:lpstr>Calibri</vt:lpstr>
      <vt:lpstr>Arial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ICU Management System</dc:title>
  <dc:description>Presentation - ICU Management System</dc:description>
  <cp:lastModifiedBy>Asha Sharma</cp:lastModifiedBy>
  <cp:revision>22</cp:revision>
  <dcterms:created xsi:type="dcterms:W3CDTF">2006-08-16T00:00:00Z</dcterms:created>
  <dcterms:modified xsi:type="dcterms:W3CDTF">2025-11-11T07:18:17Z</dcterms:modified>
  <dc:identifier>DAG4UJmV-ac</dc:identifier>
</cp:coreProperties>
</file>